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IBM Plex Sans" panose="020F0502020204030204" pitchFamily="34" charset="0"/>
      <p:regular r:id="rId15"/>
    </p:embeddedFont>
    <p:embeddedFont>
      <p:font typeface="IBM Plex Sans Medium" panose="020F0502020204030204" pitchFamily="34" charset="0"/>
      <p:regular r:id="rId16"/>
    </p:embeddedFont>
    <p:embeddedFont>
      <p:font typeface="IBM Plex Sans SemiBold" panose="020F0502020204030204" pitchFamily="34" charset="0"/>
      <p:regular r:id="rId17"/>
    </p:embeddedFont>
    <p:embeddedFont>
      <p:font typeface="Manrope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5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787400"/>
            <a:ext cx="7238819" cy="3914874"/>
          </a:xfrm>
          <a:prstGeom prst="roundRect">
            <a:avLst>
              <a:gd name="adj" fmla="val 779"/>
            </a:avLst>
          </a:prstGeom>
          <a:solidFill>
            <a:srgbClr val="EDF2F5"/>
          </a:solidFill>
          <a:ln/>
        </p:spPr>
      </p:sp>
      <p:sp>
        <p:nvSpPr>
          <p:cNvPr id="3" name="Text 1"/>
          <p:cNvSpPr/>
          <p:nvPr/>
        </p:nvSpPr>
        <p:spPr>
          <a:xfrm>
            <a:off x="939776" y="1170686"/>
            <a:ext cx="708642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18324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PRITAM KUNDU · EXPLORATORY SQL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39776" y="1556048"/>
            <a:ext cx="2137317" cy="31651"/>
          </a:xfrm>
          <a:prstGeom prst="roundRect">
            <a:avLst>
              <a:gd name="adj" fmla="val 49998"/>
            </a:avLst>
          </a:prstGeom>
          <a:solidFill>
            <a:srgbClr val="21866B"/>
          </a:solidFill>
          <a:ln/>
        </p:spPr>
      </p:sp>
      <p:sp>
        <p:nvSpPr>
          <p:cNvPr id="5" name="Text 3"/>
          <p:cNvSpPr/>
          <p:nvPr/>
        </p:nvSpPr>
        <p:spPr>
          <a:xfrm>
            <a:off x="939776" y="2009311"/>
            <a:ext cx="6476838" cy="107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400" b="1" kern="100" spc="-44" dirty="0">
                <a:solidFill>
                  <a:srgbClr val="18324A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Zepto Inventory &amp; Product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39776" y="3177758"/>
            <a:ext cx="6476838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Examining product pricing, discounts, stock availability and category inventory patterns.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9776" y="4029897"/>
            <a:ext cx="7086423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MySQL </a:t>
            </a:r>
            <a:r>
              <a:rPr lang="en-US" sz="1700" dirty="0">
                <a:solidFill>
                  <a:srgbClr val="2463A6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8.0</a:t>
            </a: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· MySQL Workbench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9486"/>
            <a:ext cx="1173450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18324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786682"/>
            <a:ext cx="1127731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200" b="1" kern="100" spc="-42" dirty="0">
                <a:solidFill>
                  <a:srgbClr val="18324A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Dataset and database structure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189" y="1442541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21866B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685556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Product SKU records in the </a:t>
            </a:r>
            <a:r>
              <a:rPr lang="en-US" sz="1700" dirty="0">
                <a:solidFill>
                  <a:srgbClr val="18324A"/>
                </a:solidFill>
                <a:highlight>
                  <a:srgbClr val="EDF2F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zepto_sql_project</a:t>
            </a: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database, stored in the </a:t>
            </a:r>
            <a:r>
              <a:rPr lang="en-US" sz="1700" dirty="0">
                <a:solidFill>
                  <a:srgbClr val="18324A"/>
                </a:solidFill>
                <a:highlight>
                  <a:srgbClr val="EDF2F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zepto</a:t>
            </a: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table.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2129334"/>
          <a:ext cx="11277318" cy="2886399"/>
        </p:xfrm>
        <a:graphic>
          <a:graphicData uri="http://schemas.openxmlformats.org/drawingml/2006/table">
            <a:tbl>
              <a:tblPr/>
              <a:tblGrid>
                <a:gridCol w="3834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3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Field group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Key fields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Product identity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Category and name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Pricing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MRP and discountedSellingPrice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Discount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Discount percentage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Weight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weightGrams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Inventory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Quantities and stock status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9486"/>
            <a:ext cx="1173450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18324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EXPLORATION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786682"/>
            <a:ext cx="1127731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200" b="1" kern="100" spc="-42" dirty="0">
                <a:solidFill>
                  <a:srgbClr val="18324A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Exploration and data quality checks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189" y="1442541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2186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907679"/>
            <a:ext cx="3093662" cy="1529159"/>
          </a:xfrm>
          <a:prstGeom prst="roundRect">
            <a:avLst>
              <a:gd name="adj" fmla="val 747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189" y="1907679"/>
            <a:ext cx="3093662" cy="38100"/>
          </a:xfrm>
          <a:prstGeom prst="rect">
            <a:avLst/>
          </a:prstGeom>
          <a:solidFill>
            <a:srgbClr val="2463A6"/>
          </a:solidFill>
          <a:ln/>
        </p:spPr>
      </p:sp>
      <p:sp>
        <p:nvSpPr>
          <p:cNvPr id="7" name="Text 5"/>
          <p:cNvSpPr/>
          <p:nvPr/>
        </p:nvSpPr>
        <p:spPr>
          <a:xfrm>
            <a:off x="685783" y="2190254"/>
            <a:ext cx="263647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Record counts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783" y="2619006"/>
            <a:ext cx="263647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Count records and inspect sample rows.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855643" y="1907679"/>
            <a:ext cx="3093662" cy="1529159"/>
          </a:xfrm>
          <a:prstGeom prst="roundRect">
            <a:avLst>
              <a:gd name="adj" fmla="val 747"/>
            </a:avLst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3855643" y="1907679"/>
            <a:ext cx="3093662" cy="38100"/>
          </a:xfrm>
          <a:prstGeom prst="rect">
            <a:avLst/>
          </a:prstGeom>
          <a:solidFill>
            <a:srgbClr val="2463A6"/>
          </a:solidFill>
          <a:ln/>
        </p:spPr>
      </p:sp>
      <p:sp>
        <p:nvSpPr>
          <p:cNvPr id="11" name="Text 9"/>
          <p:cNvSpPr/>
          <p:nvPr/>
        </p:nvSpPr>
        <p:spPr>
          <a:xfrm>
            <a:off x="4084238" y="2190254"/>
            <a:ext cx="263647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Completeness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84238" y="2619006"/>
            <a:ext cx="2865068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Check nulls across fields.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189" y="3741638"/>
            <a:ext cx="3093662" cy="1529159"/>
          </a:xfrm>
          <a:prstGeom prst="roundRect">
            <a:avLst>
              <a:gd name="adj" fmla="val 747"/>
            </a:avLst>
          </a:prstGeom>
          <a:solidFill>
            <a:srgbClr val="F2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189" y="3741638"/>
            <a:ext cx="3093662" cy="38100"/>
          </a:xfrm>
          <a:prstGeom prst="rect">
            <a:avLst/>
          </a:prstGeom>
          <a:solidFill>
            <a:srgbClr val="2463A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783" y="4024213"/>
            <a:ext cx="263647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Coverage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783" y="4452965"/>
            <a:ext cx="263647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Review categories and stock status.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855643" y="3741638"/>
            <a:ext cx="3093662" cy="1529159"/>
          </a:xfrm>
          <a:prstGeom prst="roundRect">
            <a:avLst>
              <a:gd name="adj" fmla="val 747"/>
            </a:avLst>
          </a:prstGeom>
          <a:solidFill>
            <a:srgbClr val="F2EEEE"/>
          </a:solidFill>
          <a:ln/>
        </p:spPr>
      </p:sp>
      <p:sp>
        <p:nvSpPr>
          <p:cNvPr id="18" name="Shape 16"/>
          <p:cNvSpPr/>
          <p:nvPr/>
        </p:nvSpPr>
        <p:spPr>
          <a:xfrm>
            <a:off x="3855643" y="3741638"/>
            <a:ext cx="3093662" cy="38100"/>
          </a:xfrm>
          <a:prstGeom prst="rect">
            <a:avLst/>
          </a:prstGeom>
          <a:solidFill>
            <a:srgbClr val="2463A6"/>
          </a:solidFill>
          <a:ln/>
        </p:spPr>
      </p:sp>
      <p:sp>
        <p:nvSpPr>
          <p:cNvPr id="19" name="Text 17"/>
          <p:cNvSpPr/>
          <p:nvPr/>
        </p:nvSpPr>
        <p:spPr>
          <a:xfrm>
            <a:off x="4084238" y="4024213"/>
            <a:ext cx="263647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Repeated names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084238" y="4452965"/>
            <a:ext cx="263647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Investigate shared names across variants.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7189" y="5375700"/>
            <a:ext cx="6492117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Variants can share names, so repeats were investigated rather than automatically deleted.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406395" y="1679079"/>
            <a:ext cx="4328111" cy="4721721"/>
          </a:xfrm>
          <a:prstGeom prst="roundRect">
            <a:avLst>
              <a:gd name="adj" fmla="val 704"/>
            </a:avLst>
          </a:prstGeom>
          <a:solidFill>
            <a:srgbClr val="EDF2F5"/>
          </a:solidFill>
          <a:ln/>
        </p:spPr>
      </p:sp>
      <p:sp>
        <p:nvSpPr>
          <p:cNvPr id="23" name="Text 21"/>
          <p:cNvSpPr/>
          <p:nvPr/>
        </p:nvSpPr>
        <p:spPr>
          <a:xfrm>
            <a:off x="7634989" y="3583087"/>
            <a:ext cx="387092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MySQL Workbench screenshot placeholder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102100" y="4332546"/>
            <a:ext cx="293670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Exploration and data quality checks</a:t>
            </a:r>
            <a:endParaRPr lang="en-US" sz="11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0CDE134-D91E-8F2B-7CC7-65F1D2658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596" y="1618083"/>
            <a:ext cx="4633912" cy="4721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9486"/>
            <a:ext cx="1173450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18324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786682"/>
            <a:ext cx="1127731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200" b="1" kern="100" spc="-42" dirty="0">
                <a:solidFill>
                  <a:srgbClr val="18324A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Cleaning and transformation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189" y="1442541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21866B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679079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463A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189" y="1981299"/>
            <a:ext cx="2590735" cy="19050"/>
          </a:xfrm>
          <a:prstGeom prst="rect">
            <a:avLst/>
          </a:prstGeom>
          <a:solidFill>
            <a:srgbClr val="2463A6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2145705"/>
            <a:ext cx="2590735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Identify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189" y="2574457"/>
            <a:ext cx="2590735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Find zero prices.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52716" y="1679079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463A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52716" y="1981299"/>
            <a:ext cx="2590735" cy="19050"/>
          </a:xfrm>
          <a:prstGeom prst="rect">
            <a:avLst/>
          </a:prstGeom>
          <a:solidFill>
            <a:srgbClr val="2463A6"/>
          </a:solidFill>
          <a:ln/>
        </p:spPr>
      </p:sp>
      <p:sp>
        <p:nvSpPr>
          <p:cNvPr id="11" name="Text 9"/>
          <p:cNvSpPr/>
          <p:nvPr/>
        </p:nvSpPr>
        <p:spPr>
          <a:xfrm>
            <a:off x="3352716" y="2145705"/>
            <a:ext cx="2590735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Remove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52716" y="2574457"/>
            <a:ext cx="259073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Remove records with zero MRP.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48244" y="1679079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463A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8244" y="1981299"/>
            <a:ext cx="2590735" cy="19050"/>
          </a:xfrm>
          <a:prstGeom prst="rect">
            <a:avLst/>
          </a:prstGeom>
          <a:solidFill>
            <a:srgbClr val="2463A6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2145705"/>
            <a:ext cx="2590735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Convert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48244" y="2574457"/>
            <a:ext cx="2590735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Divide MRP and selling price by 100: paise to rupees.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3771" y="1679079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463A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3771" y="1981299"/>
            <a:ext cx="2590735" cy="19050"/>
          </a:xfrm>
          <a:prstGeom prst="rect">
            <a:avLst/>
          </a:prstGeom>
          <a:solidFill>
            <a:srgbClr val="2463A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3771" y="2145705"/>
            <a:ext cx="2590735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Check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3771" y="2574457"/>
            <a:ext cx="2590735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Check cleaned values.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189" y="3766344"/>
            <a:ext cx="11277318" cy="2634456"/>
          </a:xfrm>
          <a:prstGeom prst="roundRect">
            <a:avLst>
              <a:gd name="adj" fmla="val 1157"/>
            </a:avLst>
          </a:prstGeom>
          <a:solidFill>
            <a:srgbClr val="EDF2F5"/>
          </a:solidFill>
          <a:ln/>
        </p:spPr>
      </p:sp>
      <p:sp>
        <p:nvSpPr>
          <p:cNvPr id="22" name="Text 20"/>
          <p:cNvSpPr/>
          <p:nvPr/>
        </p:nvSpPr>
        <p:spPr>
          <a:xfrm>
            <a:off x="3578235" y="4785420"/>
            <a:ext cx="1082012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MySQL Workbench screenshot placeholder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141188" y="5217378"/>
            <a:ext cx="451890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Zero-MRP removal, currency conversion and cleaned values</a:t>
            </a:r>
            <a:endParaRPr lang="en-US" sz="11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00B38EB-E40A-D4AD-C606-8B5E64DA1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3579273"/>
            <a:ext cx="10758207" cy="28868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9486"/>
            <a:ext cx="1173450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18324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786682"/>
            <a:ext cx="1127731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200" b="1" kern="100" spc="-42" dirty="0">
                <a:solidFill>
                  <a:srgbClr val="18324A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Product pricing and discount analysis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189" y="1442541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21866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907679"/>
          <a:ext cx="6492118" cy="2217880"/>
        </p:xfrm>
        <a:graphic>
          <a:graphicData uri="http://schemas.openxmlformats.org/drawingml/2006/table">
            <a:tbl>
              <a:tblPr/>
              <a:tblGrid>
                <a:gridCol w="2726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Analysis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Scope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Listed discounts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Highest listed discounts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High-MRP products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MRP above ₹500 with discount below 10%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Price per gram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Weights of at least 100 grams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189" y="4690566"/>
            <a:ext cx="649211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Discount consistency check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189" y="5122525"/>
            <a:ext cx="64921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36879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Initially examined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189" y="5417836"/>
            <a:ext cx="6492117" cy="771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400" dirty="0">
                <a:solidFill>
                  <a:srgbClr val="2463A6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30 records only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7406395" y="1679079"/>
            <a:ext cx="4328111" cy="4721721"/>
          </a:xfrm>
          <a:prstGeom prst="roundRect">
            <a:avLst>
              <a:gd name="adj" fmla="val 704"/>
            </a:avLst>
          </a:prstGeom>
          <a:solidFill>
            <a:srgbClr val="EDF2F5"/>
          </a:solidFill>
          <a:ln/>
        </p:spPr>
      </p:sp>
      <p:sp>
        <p:nvSpPr>
          <p:cNvPr id="10" name="Text 7"/>
          <p:cNvSpPr/>
          <p:nvPr/>
        </p:nvSpPr>
        <p:spPr>
          <a:xfrm>
            <a:off x="7634989" y="3583087"/>
            <a:ext cx="387092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MySQL Workbench screenshot placeholder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340913" y="4332546"/>
            <a:ext cx="245897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Pricing and discount queries</a:t>
            </a:r>
            <a:endParaRPr lang="en-US" sz="11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3C51D9-EFFF-CDBE-9D1D-B817193B7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996" y="1735475"/>
            <a:ext cx="4675511" cy="45346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9486"/>
            <a:ext cx="1173450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18324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INVENTORY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786682"/>
            <a:ext cx="1127731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200" b="1" kern="100" spc="-42" dirty="0">
                <a:solidFill>
                  <a:srgbClr val="18324A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Inventory and category-level analysis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189" y="1442541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21866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679079"/>
          <a:ext cx="11277318" cy="2610909"/>
        </p:xfrm>
        <a:graphic>
          <a:graphicData uri="http://schemas.openxmlformats.org/drawingml/2006/table">
            <a:tbl>
              <a:tblPr/>
              <a:tblGrid>
                <a:gridCol w="3383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Analysis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Calculation or scope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Estimated inventory value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\operatorname{SUM}(\text{discountedSellingPrice}\times\text{availableQuantity})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Inventory weight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\operatorname{SUM}(\text{availableQuantity}\times\text{weightGrams})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Category stockouts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Category stockout rates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High-MRP stockouts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Out-of-stock products above ₹300 MRP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189" y="4234755"/>
            <a:ext cx="11277318" cy="2166045"/>
          </a:xfrm>
          <a:prstGeom prst="roundRect">
            <a:avLst>
              <a:gd name="adj" fmla="val 1407"/>
            </a:avLst>
          </a:prstGeom>
          <a:solidFill>
            <a:srgbClr val="EDF2F5"/>
          </a:solidFill>
          <a:ln/>
        </p:spPr>
      </p:sp>
      <p:sp>
        <p:nvSpPr>
          <p:cNvPr id="5" name="Text 4"/>
          <p:cNvSpPr/>
          <p:nvPr/>
        </p:nvSpPr>
        <p:spPr>
          <a:xfrm>
            <a:off x="3578235" y="5019675"/>
            <a:ext cx="1082012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MySQL Workbench screenshot placeholder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453025" y="5451634"/>
            <a:ext cx="3895131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Inventory aggregations and category-level queries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9486"/>
            <a:ext cx="1173450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18324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REPORTED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776395"/>
            <a:ext cx="11277318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600" b="1" kern="100" spc="-36" dirty="0">
                <a:solidFill>
                  <a:srgbClr val="18324A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Stockout rates vary across discount groups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369417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21866B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615639"/>
            <a:ext cx="577071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36879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Stockout rate (%) by discount group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894185"/>
            <a:ext cx="5651359" cy="34290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84994" y="1605955"/>
          <a:ext cx="5049513" cy="2403216"/>
        </p:xfrm>
        <a:graphic>
          <a:graphicData uri="http://schemas.openxmlformats.org/drawingml/2006/table">
            <a:tbl>
              <a:tblPr/>
              <a:tblGrid>
                <a:gridCol w="161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6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Discount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Products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Out of stock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0–10%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2,919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399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11–20%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579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38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21–30%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146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5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Above 30%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87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832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11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189" y="5482062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Rates do not increase consistently with higher discounts and do not establish causation.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9486"/>
            <a:ext cx="1173450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18324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PROJECT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786682"/>
            <a:ext cx="1127731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200" b="1" kern="100" spc="-42" dirty="0">
                <a:solidFill>
                  <a:srgbClr val="18324A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Takeaways, limitations and next steps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189" y="1442541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21866B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685556"/>
            <a:ext cx="1127731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SQL skills demonstrated through exploration, data quality checks, cleaning, transformation and category-level aggregation.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189" y="3221434"/>
            <a:ext cx="5410065" cy="2232819"/>
          </a:xfrm>
          <a:prstGeom prst="rect">
            <a:avLst/>
          </a:prstGeom>
          <a:solidFill>
            <a:srgbClr val="EDF2F5"/>
          </a:solidFill>
          <a:ln/>
        </p:spPr>
      </p:sp>
      <p:sp>
        <p:nvSpPr>
          <p:cNvPr id="7" name="Text 5"/>
          <p:cNvSpPr/>
          <p:nvPr/>
        </p:nvSpPr>
        <p:spPr>
          <a:xfrm>
            <a:off x="685783" y="3469084"/>
            <a:ext cx="495287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Snapshot limitations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783" y="3951684"/>
            <a:ext cx="4952876" cy="976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No sales revenue, margins or velocity.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No cause of stockouts established.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Estimated inventory value is not revenue.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24442" y="3221434"/>
            <a:ext cx="5410065" cy="2232819"/>
          </a:xfrm>
          <a:prstGeom prst="roundRect">
            <a:avLst>
              <a:gd name="adj" fmla="val 512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36" y="3469084"/>
            <a:ext cx="495287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32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Author’s next steps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53036" y="3951684"/>
            <a:ext cx="4952876" cy="1273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5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Complete full-dataset discount validation.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Improve documentation.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1832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Publish SQL scripts and presentation on GitHub.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424</Words>
  <Application>Microsoft Office PowerPoint</Application>
  <PresentationFormat>Widescreen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IBM Plex Sans SemiBold</vt:lpstr>
      <vt:lpstr>math</vt:lpstr>
      <vt:lpstr>IBM Plex Sans</vt:lpstr>
      <vt:lpstr>Consolas</vt:lpstr>
      <vt:lpstr>Manrope Bold</vt:lpstr>
      <vt:lpstr>IBM Plex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sahebk195@outlook.com</cp:lastModifiedBy>
  <cp:revision>2</cp:revision>
  <dcterms:created xsi:type="dcterms:W3CDTF">2026-10-30T05:27:38Z</dcterms:created>
  <dcterms:modified xsi:type="dcterms:W3CDTF">2026-10-30T05:33:57Z</dcterms:modified>
</cp:coreProperties>
</file>